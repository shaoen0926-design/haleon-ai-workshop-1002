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822960" y="-640080"/>
            <a:ext cx="2926080" cy="237744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2000000">
            <a:off x="10607040" y="5577840"/>
            <a:ext cx="1280160" cy="1005840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900000">
            <a:off x="2011680" y="502920"/>
            <a:ext cx="320040" cy="274320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20400000">
            <a:off x="4114800" y="1472184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24528" y="1600200"/>
            <a:ext cx="3749039" cy="6858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職場實作課</a:t>
            </a:r>
          </a:p>
        </p:txBody>
      </p:sp>
      <p:sp>
        <p:nvSpPr>
          <p:cNvPr id="12" name="Oval 11"/>
          <p:cNvSpPr/>
          <p:nvPr/>
        </p:nvSpPr>
        <p:spPr>
          <a:xfrm>
            <a:off x="7918703" y="2157984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有架構，就好上手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每個單元一套架構　＋　Copilot「建立」的四格提詞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36289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Haleon 台灣・2026/10/02</a:t>
            </a:r>
          </a:p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講師　翁紹恩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總覽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8 個單元，8 套架構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01168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94560"/>
            <a:ext cx="2331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1 認識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三個判斷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2816352"/>
            <a:ext cx="274320" cy="0"/>
          </a:xfrm>
          <a:prstGeom prst="line">
            <a:avLst/>
          </a:prstGeom>
          <a:ln w="254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11880" y="201168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194560"/>
            <a:ext cx="2331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2 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8036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五段提詞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2816352"/>
            <a:ext cx="274320" cy="0"/>
          </a:xfrm>
          <a:prstGeom prst="line">
            <a:avLst/>
          </a:prstGeom>
          <a:ln w="254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201168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194560"/>
            <a:ext cx="2331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3 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8036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六要素＋修圖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2816352"/>
            <a:ext cx="274320" cy="0"/>
          </a:xfrm>
          <a:prstGeom prst="line">
            <a:avLst/>
          </a:prstGeom>
          <a:ln w="254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06840" y="201168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194560"/>
            <a:ext cx="2331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4 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88036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查詢公式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02336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06240"/>
            <a:ext cx="2331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5 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分析三步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91840" y="4828032"/>
            <a:ext cx="274320" cy="0"/>
          </a:xfrm>
          <a:prstGeom prst="line">
            <a:avLst/>
          </a:prstGeom>
          <a:ln w="254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611880" y="402336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4206240"/>
            <a:ext cx="2331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6 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89204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簡報三步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89320" y="4828032"/>
            <a:ext cx="274320" cy="0"/>
          </a:xfrm>
          <a:prstGeom prst="line">
            <a:avLst/>
          </a:prstGeom>
          <a:ln w="254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309360" y="402336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206240"/>
            <a:ext cx="2331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7 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89204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交接＋模板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686800" y="4828032"/>
            <a:ext cx="274320" cy="0"/>
          </a:xfrm>
          <a:prstGeom prst="line">
            <a:avLst/>
          </a:prstGeom>
          <a:ln w="25400">
            <a:solidFill>
              <a:srgbClr val="BFB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06840" y="402336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4206240"/>
            <a:ext cx="2331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89204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四格提詞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989320"/>
            <a:ext cx="10362895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同樣的事，下次不要從頭想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274320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0" b="1" i="0">
                <a:solidFill>
                  <a:srgbClr val="5D6BB6"/>
                </a:solidFill>
                <a:latin typeface="Impact"/>
                <a:ea typeface="Impact"/>
                <a:cs typeface="Impact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834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個判斷</a:t>
            </a:r>
          </a:p>
        </p:txBody>
      </p:sp>
      <p:sp>
        <p:nvSpPr>
          <p:cNvPr id="11" name="Isosceles Triangle 10"/>
          <p:cNvSpPr/>
          <p:nvPr/>
        </p:nvSpPr>
        <p:spPr>
          <a:xfrm rot="20400000">
            <a:off x="3639311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認識</a:t>
            </a:r>
          </a:p>
        </p:txBody>
      </p:sp>
      <p:sp>
        <p:nvSpPr>
          <p:cNvPr id="13" name="Oval 12"/>
          <p:cNvSpPr/>
          <p:nvPr/>
        </p:nvSpPr>
        <p:spPr>
          <a:xfrm>
            <a:off x="5431536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75488"/>
            <a:ext cx="566928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開始用之前，先做三個判斷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55448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看盾牌</a:t>
            </a:r>
          </a:p>
        </p:txBody>
      </p:sp>
      <p:sp>
        <p:nvSpPr>
          <p:cNvPr id="16" name="Oval 15"/>
          <p:cNvSpPr/>
          <p:nvPr/>
        </p:nvSpPr>
        <p:spPr>
          <a:xfrm>
            <a:off x="5806440" y="192481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5448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公司帳號登入、看得到盾牌，才放公司資料。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42316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紅綠燈</a:t>
            </a:r>
          </a:p>
        </p:txBody>
      </p:sp>
      <p:sp>
        <p:nvSpPr>
          <p:cNvPr id="19" name="Oval 18"/>
          <p:cNvSpPr/>
          <p:nvPr/>
        </p:nvSpPr>
        <p:spPr>
          <a:xfrm>
            <a:off x="5806440" y="279349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42316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紅：病人資料；用個人帳號放公司資料。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黃：醫師聯絡資料；未公開代號＋上網查。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綠：公開資料、教學用虛構資料。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291839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會寫也會畫</a:t>
            </a:r>
          </a:p>
        </p:txBody>
      </p:sp>
      <p:sp>
        <p:nvSpPr>
          <p:cNvPr id="22" name="Oval 21"/>
          <p:cNvSpPr/>
          <p:nvPr/>
        </p:nvSpPr>
        <p:spPr>
          <a:xfrm>
            <a:off x="5806440" y="3662171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291839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同一個 Copilot：打字問，回你文字；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描述畫面，畫一張圖。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58978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貼之前，先想三秒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865376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認識</a:t>
            </a:r>
          </a:p>
        </p:txBody>
      </p:sp>
      <p:sp>
        <p:nvSpPr>
          <p:cNvPr id="11" name="Oval 10"/>
          <p:cNvSpPr/>
          <p:nvPr/>
        </p:nvSpPr>
        <p:spPr>
          <a:xfrm>
            <a:off x="2679192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475488"/>
            <a:ext cx="845179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第一句話：一段文字、一張圖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14173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文字｜C1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你好，我是〔請改：我的職能〕，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第一次用 Copilot Chat。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請你：告訴我你能在日常工作幫我做哪些事。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請輸出：3 條，每條 20 字內。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畫圖｜C1b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請畫一張插畫。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畫面裡有三位上班族同事，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圍著一台筆電開心討論。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地點是明亮的辦公室，桌上有綠色植物。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從正面平視，午後自然光從左邊照進來。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風格是扁平向量插畫，色彩柔和。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圖裡不要有文字、商標、真人肖像。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對應實作頁「1 認識」：C1 文字、C1b 畫圖（每桌 1 人）、C2 資料紅綠燈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85216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生圖次數有限，每桌 1 人做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274320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0" b="1" i="0">
                <a:solidFill>
                  <a:srgbClr val="5D6BB6"/>
                </a:solidFill>
                <a:latin typeface="Impact"/>
                <a:ea typeface="Impact"/>
                <a:cs typeface="Impact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834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段提詞</a:t>
            </a:r>
          </a:p>
        </p:txBody>
      </p:sp>
      <p:sp>
        <p:nvSpPr>
          <p:cNvPr id="11" name="Isosceles Triangle 10"/>
          <p:cNvSpPr/>
          <p:nvPr/>
        </p:nvSpPr>
        <p:spPr>
          <a:xfrm rot="20400000">
            <a:off x="3639311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寫</a:t>
            </a:r>
          </a:p>
        </p:txBody>
      </p:sp>
      <p:sp>
        <p:nvSpPr>
          <p:cNvPr id="13" name="Oval 12"/>
          <p:cNvSpPr/>
          <p:nvPr/>
        </p:nvSpPr>
        <p:spPr>
          <a:xfrm>
            <a:off x="5431536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75488"/>
            <a:ext cx="566928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每則提詞都是五段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55448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你是</a:t>
            </a:r>
          </a:p>
        </p:txBody>
      </p:sp>
      <p:sp>
        <p:nvSpPr>
          <p:cNvPr id="16" name="Oval 15"/>
          <p:cNvSpPr/>
          <p:nvPr/>
        </p:nvSpPr>
        <p:spPr>
          <a:xfrm>
            <a:off x="5806440" y="192481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5448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給 AI 一個角色：會議記錄助理、拜訪紀錄助理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42316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</a:t>
            </a:r>
          </a:p>
        </p:txBody>
      </p:sp>
      <p:sp>
        <p:nvSpPr>
          <p:cNvPr id="19" name="Oval 18"/>
          <p:cNvSpPr/>
          <p:nvPr/>
        </p:nvSpPr>
        <p:spPr>
          <a:xfrm>
            <a:off x="5806440" y="279349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42316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一句話說要做什麼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291839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要注意</a:t>
            </a:r>
          </a:p>
        </p:txBody>
      </p:sp>
      <p:sp>
        <p:nvSpPr>
          <p:cNvPr id="22" name="Oval 21"/>
          <p:cNvSpPr/>
          <p:nvPr/>
        </p:nvSpPr>
        <p:spPr>
          <a:xfrm>
            <a:off x="5806440" y="3662171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291839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最多 4 條規則：沒寫的不要補、前後不一樣要標出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16052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</a:t>
            </a:r>
          </a:p>
        </p:txBody>
      </p:sp>
      <p:sp>
        <p:nvSpPr>
          <p:cNvPr id="25" name="Oval 24"/>
          <p:cNvSpPr/>
          <p:nvPr/>
        </p:nvSpPr>
        <p:spPr>
          <a:xfrm>
            <a:off x="5806440" y="4530851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16052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列出要的東西：① 摘要 ② 決議 ③ 待辦表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02920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防呆句</a:t>
            </a:r>
          </a:p>
        </p:txBody>
      </p:sp>
      <p:sp>
        <p:nvSpPr>
          <p:cNvPr id="28" name="Oval 27"/>
          <p:cNvSpPr/>
          <p:nvPr/>
        </p:nvSpPr>
        <p:spPr>
          <a:xfrm>
            <a:off x="5806440" y="5399531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502920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58978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交出去前做四查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寫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同一個骨架，只換素材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1417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內勤｜A1 會議摘要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你是：會議記錄助理。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請你：把下面的逐字稿整理成會議紀錄。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要注意：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1. 有人提到身體不適，原句照抄放最上面。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2. 沒說的負責人、期限，寫「待確認」。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3. 前後說法不一樣，兩個都列，標【需確認】。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請輸出：① 摘要 ② 決議 ③ 待辦表（事項｜負責人｜期限）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外勤｜B4 拜訪後追蹤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你是：拜訪紀錄助理。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請你：整理拜訪筆記，寫 LINE 給院長。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要注意：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1. 有人提到身體不適，原句照抄放最上面。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2. 筆記沒寫的日期、數量，寫「待確認」。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3. 醫學問題不回答，改說會請醫學資訊部門回覆。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請輸出：① 摘要 ② 待辦表 ③ LINE 草稿（100 字內）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完整提詞：實作頁「2 寫」A1、B4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85216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先用一句話試，再用五段比一比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274320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0" b="1" i="0">
                <a:solidFill>
                  <a:srgbClr val="5D6BB6"/>
                </a:solidFill>
                <a:latin typeface="Impact"/>
                <a:ea typeface="Impact"/>
                <a:cs typeface="Impact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834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大要素</a:t>
            </a:r>
          </a:p>
        </p:txBody>
      </p:sp>
      <p:sp>
        <p:nvSpPr>
          <p:cNvPr id="11" name="Isosceles Triangle 10"/>
          <p:cNvSpPr/>
          <p:nvPr/>
        </p:nvSpPr>
        <p:spPr>
          <a:xfrm rot="20400000">
            <a:off x="3639311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畫</a:t>
            </a:r>
          </a:p>
        </p:txBody>
      </p:sp>
      <p:sp>
        <p:nvSpPr>
          <p:cNvPr id="13" name="Oval 12"/>
          <p:cNvSpPr/>
          <p:nvPr/>
        </p:nvSpPr>
        <p:spPr>
          <a:xfrm>
            <a:off x="5431536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75488"/>
            <a:ext cx="566928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畫圖：六個要素，用完整句子說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554480"/>
            <a:ext cx="201168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主角</a:t>
            </a:r>
          </a:p>
        </p:txBody>
      </p:sp>
      <p:sp>
        <p:nvSpPr>
          <p:cNvPr id="16" name="Oval 15"/>
          <p:cNvSpPr/>
          <p:nvPr/>
        </p:nvSpPr>
        <p:spPr>
          <a:xfrm>
            <a:off x="5806440" y="186385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54480"/>
            <a:ext cx="548640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畫面中的核心人物或物體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301240"/>
            <a:ext cx="201168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動作</a:t>
            </a:r>
          </a:p>
        </p:txBody>
      </p:sp>
      <p:sp>
        <p:nvSpPr>
          <p:cNvPr id="19" name="Oval 18"/>
          <p:cNvSpPr/>
          <p:nvPr/>
        </p:nvSpPr>
        <p:spPr>
          <a:xfrm>
            <a:off x="5806440" y="261061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301240"/>
            <a:ext cx="548640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主角正在做什麼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048000"/>
            <a:ext cx="201168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環境</a:t>
            </a:r>
          </a:p>
        </p:txBody>
      </p:sp>
      <p:sp>
        <p:nvSpPr>
          <p:cNvPr id="22" name="Oval 21"/>
          <p:cNvSpPr/>
          <p:nvPr/>
        </p:nvSpPr>
        <p:spPr>
          <a:xfrm>
            <a:off x="5806440" y="335737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048000"/>
            <a:ext cx="548640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場景在哪裡、氛圍如何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794760"/>
            <a:ext cx="201168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構圖</a:t>
            </a:r>
          </a:p>
        </p:txBody>
      </p:sp>
      <p:sp>
        <p:nvSpPr>
          <p:cNvPr id="25" name="Oval 24"/>
          <p:cNvSpPr/>
          <p:nvPr/>
        </p:nvSpPr>
        <p:spPr>
          <a:xfrm>
            <a:off x="5806440" y="410413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794760"/>
            <a:ext cx="548640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鏡頭角度、主角在畫面哪裡、哪裡留白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541520"/>
            <a:ext cx="201168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光影</a:t>
            </a:r>
          </a:p>
        </p:txBody>
      </p:sp>
      <p:sp>
        <p:nvSpPr>
          <p:cNvPr id="28" name="Oval 27"/>
          <p:cNvSpPr/>
          <p:nvPr/>
        </p:nvSpPr>
        <p:spPr>
          <a:xfrm>
            <a:off x="5806440" y="485089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4541520"/>
            <a:ext cx="548640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光從哪裡來、柔和還是強烈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288280"/>
            <a:ext cx="201168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風格</a:t>
            </a:r>
          </a:p>
        </p:txBody>
      </p:sp>
      <p:sp>
        <p:nvSpPr>
          <p:cNvPr id="31" name="Oval 30"/>
          <p:cNvSpPr/>
          <p:nvPr/>
        </p:nvSpPr>
        <p:spPr>
          <a:xfrm>
            <a:off x="5806440" y="559765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5288280"/>
            <a:ext cx="5486400" cy="746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扁平插畫、水彩、3D……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58978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用說的，別用堆的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畫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先寫、再畫、只修一處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91640"/>
            <a:ext cx="3271418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057400"/>
            <a:ext cx="29056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先寫六句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40"/>
            <a:ext cx="290565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先不要畫圖。請 AI 用六要素各寫一句，看描述對不對。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7530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60138" y="1691640"/>
            <a:ext cx="3271418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3018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3018" y="2057400"/>
            <a:ext cx="29056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畫 1 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2606040"/>
            <a:ext cx="290565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把六句貼成一段送出；上方留白，之後自己放字。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58988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51596" y="1691640"/>
            <a:ext cx="3271418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34476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4476" y="2057400"/>
            <a:ext cx="29056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修 1 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4476" y="2606040"/>
            <a:ext cx="290565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用一個修圖指令，說清楚位置，其他保持不變。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77639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修圖五指令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434840"/>
            <a:ext cx="1907987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7" y="4526280"/>
            <a:ext cx="1688531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添加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" y="4956048"/>
            <a:ext cx="1688531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在右上角加一盆植物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05267" y="4434840"/>
            <a:ext cx="1907987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14995" y="4526280"/>
            <a:ext cx="1688531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移除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4995" y="4956048"/>
            <a:ext cx="1688531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移除白板上的字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1854" y="4434840"/>
            <a:ext cx="1907987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1582" y="4526280"/>
            <a:ext cx="1688531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改變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1582" y="4956048"/>
            <a:ext cx="1688531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把光線改成傍晚暖光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8441" y="4434840"/>
            <a:ext cx="1907987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169" y="4526280"/>
            <a:ext cx="1688531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替換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169" y="4956048"/>
            <a:ext cx="1688531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把馬克杯換成筆記本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5028" y="4434840"/>
            <a:ext cx="1907987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4756" y="4526280"/>
            <a:ext cx="1688531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變成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4756" y="4956048"/>
            <a:ext cx="1688531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把整張變成水彩風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圖裡不放字、不畫真人與商標、不畫療效對比｜實作頁「3 畫」A5–A8、B5–B7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274320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0" b="1" i="0">
                <a:solidFill>
                  <a:srgbClr val="5D6BB6"/>
                </a:solidFill>
                <a:latin typeface="Impact"/>
                <a:ea typeface="Impact"/>
                <a:cs typeface="Impact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834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項公式</a:t>
            </a:r>
          </a:p>
        </p:txBody>
      </p:sp>
      <p:sp>
        <p:nvSpPr>
          <p:cNvPr id="11" name="Isosceles Triangle 10"/>
          <p:cNvSpPr/>
          <p:nvPr/>
        </p:nvSpPr>
        <p:spPr>
          <a:xfrm rot="20400000">
            <a:off x="3639311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查</a:t>
            </a:r>
          </a:p>
        </p:txBody>
      </p:sp>
      <p:sp>
        <p:nvSpPr>
          <p:cNvPr id="13" name="Oval 12"/>
          <p:cNvSpPr/>
          <p:nvPr/>
        </p:nvSpPr>
        <p:spPr>
          <a:xfrm>
            <a:off x="5431536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75488"/>
            <a:ext cx="566928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查資料：一個公式，加驗證三步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55448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16" name="Oval 15"/>
          <p:cNvSpPr/>
          <p:nvPr/>
        </p:nvSpPr>
        <p:spPr>
          <a:xfrm>
            <a:off x="5806440" y="192481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5448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要查什麼，一句話：台灣成人每天該吃多少鈣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42316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來源</a:t>
            </a:r>
          </a:p>
        </p:txBody>
      </p:sp>
      <p:sp>
        <p:nvSpPr>
          <p:cNvPr id="19" name="Oval 18"/>
          <p:cNvSpPr/>
          <p:nvPr/>
        </p:nvSpPr>
        <p:spPr>
          <a:xfrm>
            <a:off x="5806440" y="279349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42316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只用官方、學會、教學醫院；不用廠商、部落格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291839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年份</a:t>
            </a:r>
          </a:p>
        </p:txBody>
      </p:sp>
      <p:sp>
        <p:nvSpPr>
          <p:cNvPr id="22" name="Oval 21"/>
          <p:cNvSpPr/>
          <p:nvPr/>
        </p:nvSpPr>
        <p:spPr>
          <a:xfrm>
            <a:off x="5806440" y="3662171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291839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限定新資料：2021 年以後；沒日期寫「日期不明」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16052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格式</a:t>
            </a:r>
          </a:p>
        </p:txBody>
      </p:sp>
      <p:sp>
        <p:nvSpPr>
          <p:cNvPr id="25" name="Oval 24"/>
          <p:cNvSpPr/>
          <p:nvPr/>
        </p:nvSpPr>
        <p:spPr>
          <a:xfrm>
            <a:off x="5806440" y="4530851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16052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表格附原句、網址、日期；最上方寫「內部理解用」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58978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點開網址、看日期、找第二個來源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查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查詢提詞：內勤、外勤各一題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14173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內勤｜A9 查營養資訊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你是：資料查詢助理。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請你：查台灣成人每天該吃多少鈣和維生素D。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要注意：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1. 只用國健署最新正式版，不用草案。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2. 數字、單位照原文，不換算。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3. 每列附網址和日期；找不到寫「查無官方來源」。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請輸出：表格（營養素｜年齡層｜數值｜單位｜網址｜日期）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外勤｜B8 查牙科資訊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你是：資料查詢助理。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請你：查牙本質敏感的常見原因和日常照護。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要注意：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1. 只用牙醫學會、教學醫院、政府網站。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2. 限 2021 年以後，不提品牌。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3. 提到治療、藥物的，標「轉 Medical Information」。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請輸出：表格（原因或照護｜重點｜原句｜網址｜日期）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查到的結果只給自己理解，不直接轉給醫師或消費者｜實作頁「4 查」A9、B8；加碼 A10、B9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85216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上網查時，不打內部代號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 算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分析 Excel：同一個對話做三步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91640"/>
            <a:ext cx="3271418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057400"/>
            <a:ext cx="29056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看全貌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40"/>
            <a:ext cx="290565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概況表＋計算過程表（公式、列號、筆數）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7530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60138" y="1691640"/>
            <a:ext cx="3271418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3018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3018" y="2057400"/>
            <a:ext cx="29056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找問題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2606040"/>
            <a:ext cx="290565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重複、異常、缺漏、逾期、身體不適原句；只標出、不改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58988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51596" y="1691640"/>
            <a:ext cx="3271418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34476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4476" y="2057400"/>
            <a:ext cx="29056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給建議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4476" y="2606040"/>
            <a:ext cx="290565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3 個洞察，附數字和列號；下週 3 個行動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77639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專家提詞四格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434840"/>
            <a:ext cx="2442133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7" y="4526280"/>
            <a:ext cx="222267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【我是誰】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" y="4956048"/>
            <a:ext cx="2222677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你是通路分析師，報告給 TMK 主管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39413" y="4434840"/>
            <a:ext cx="2442133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9141" y="4526280"/>
            <a:ext cx="222267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【做什麼】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9141" y="4956048"/>
            <a:ext cx="2222677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用我上傳的表，做第①步：看全貌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0147" y="4434840"/>
            <a:ext cx="2442133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9875" y="4526280"/>
            <a:ext cx="222267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【怎麼做】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9875" y="4956048"/>
            <a:ext cx="2222677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依序輸出：資料說明、概況表、計算過程表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80881" y="4434840"/>
            <a:ext cx="2442133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90609" y="4526280"/>
            <a:ext cx="222267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【注意】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0609" y="4956048"/>
            <a:ext cx="2222677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回答寫出列號；沒有資料的不補值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AI 算的數字，自己用 Excel 驗算 1 個再用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 算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第①步：看全貌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14173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內勤｜A11 促銷成效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【我是誰】你是通路分析師，報告給 TMK 主管。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【做什麼】用我上傳的「通路銷售」表，做第①步：看全貌。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【怎麼做】照原始資料算，不刪不改，依序輸出：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① 資料說明 ② 各通路銷售額、促銷費用、投報倍數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③ 計算過程表（公式、列號、筆數）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【注意】第 1 列是標示、第 2 列是欄名；回答寫出列號。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沒有資料的格子寫「資料未提及」，不補值。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外勤｜B10 拜訪紀錄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【我是誰】你是拜訪行程助理。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【做什麼】用我上傳的「拜訪紀錄」表，做第①步：看全貌。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【怎麼做】依序輸出：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① 各業務、各區域拜訪次數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② 需求分群（試用品、衛教資料、活動邀約…）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③ 未完成待辦；期限空白寫「期限缺漏」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【注意】回答寫出列號；身體不適原句放最上面。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②③ 接著在同一個對話貼｜實作頁「5 算」A11–A14、B10；小抄 C6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85216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驗算：=SUMIF(…)、=COUNTIF(…)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 報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做簡報：先文字，再版面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91640"/>
            <a:ext cx="3271418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057400"/>
            <a:ext cx="29056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大綱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40"/>
            <a:ext cx="290565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每頁一句結論：結論→決議→發現→風險→請主管決定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7530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60138" y="1691640"/>
            <a:ext cx="3271418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3018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3018" y="2057400"/>
            <a:ext cx="29056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逐頁文案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2606040"/>
            <a:ext cx="290565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每頁 3 個重點＋講者備註＋圖表建議；數字標來源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58988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51596" y="1691640"/>
            <a:ext cx="3271418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34476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4476" y="2057400"/>
            <a:ext cx="29056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套範本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4476" y="2606040"/>
            <a:ext cx="290565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PowerPoint「檢視→大綱」貼上，再套公司範本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77639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6 大規範（交代清楚版面）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434840"/>
            <a:ext cx="1551889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7" y="4526280"/>
            <a:ext cx="13324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畫布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" y="4956048"/>
            <a:ext cx="1332433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16:9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49169" y="4434840"/>
            <a:ext cx="1551889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58897" y="4526280"/>
            <a:ext cx="13324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版型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8897" y="4956048"/>
            <a:ext cx="1332433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上方一句結論，左文右圖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9658" y="4434840"/>
            <a:ext cx="1551889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9386" y="4526280"/>
            <a:ext cx="13324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字體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9386" y="4956048"/>
            <a:ext cx="1332433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每頁最多 3 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0147" y="4434840"/>
            <a:ext cx="1551889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9875" y="4526280"/>
            <a:ext cx="13324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色彩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9875" y="4956048"/>
            <a:ext cx="1332433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依公司範本，強調色只給關鍵數字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0636" y="4434840"/>
            <a:ext cx="1551889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0364" y="4526280"/>
            <a:ext cx="13324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風格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0364" y="4956048"/>
            <a:ext cx="1332433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線性 icon、平面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71126" y="4434840"/>
            <a:ext cx="1551889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80853" y="4526280"/>
            <a:ext cx="13324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禁用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0853" y="4956048"/>
            <a:ext cx="1332433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花背景、沒來源的數字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今天目標：能聽、能看｜實作頁「6 報」A15、B11；小抄 C7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 報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簡報提詞：內勤週報、外勤講稿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14173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內勤｜A15 主管週報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你是：TMK 同仁。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請你：用前面的分析結果，寫 3–5 頁主管週報。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要注意：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1. 每個數字標來源（來源：A11 第 N 列）。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2. 前後說法不一樣，兩個都列，標【需確認】。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① 表格版（頁次｜標題｜3 個重點｜講者備註｜圖表建議）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② 大綱貼上版（標題一行、重點各一行）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外勤｜B11 三分鐘講稿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你是：牙科通路外勤同仁。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請你：寫拜訪院長的 3 分鐘講稿。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要注意：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1. 產品說法只用核准訊息，不加功效、數字、比較。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2. 每句標〔核准訊息①〕或〔互動句〕，標不上的刪掉。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① 三欄表（時間｜投影片｜講稿）；投影片只寫【公司核准 detail aid】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② 被刪掉的句子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投影片內容用公司核准版本；自己做的是講者備忘稿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85216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Copilot 給文字，PPT 給版面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 合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交接不漏，再把提詞做成模板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91640"/>
            <a:ext cx="2373553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057400"/>
            <a:ext cx="200779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做一次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40"/>
            <a:ext cx="200779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用卡上的提詞把工作做完，確認結果滿意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69665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62273" y="1691640"/>
            <a:ext cx="2373553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45153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5153" y="2057400"/>
            <a:ext cx="200779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寫成模板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5153" y="2606040"/>
            <a:ext cx="200779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 AI 把剛才的提詞改成步驟模板，只留 3 個〔請改〕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63259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55867" y="1691640"/>
            <a:ext cx="2373553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8747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747" y="2057400"/>
            <a:ext cx="200779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換資料試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747" y="2606040"/>
            <a:ext cx="200779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開新對話，貼模板＋另一份資料；缺資料它會先問你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56853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49461" y="1691640"/>
            <a:ext cx="2373553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32341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2341" y="2057400"/>
            <a:ext cx="200779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存提詞庫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2341" y="2606040"/>
            <a:ext cx="200779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存進「我的提詞庫」，標「已驗證」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977639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交接單三規則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434840"/>
            <a:ext cx="3332378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7" y="4526280"/>
            <a:ext cx="311292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一件一張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4956048"/>
            <a:ext cx="3112922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要內勤處理的事才開單；一個需求一張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9658" y="4434840"/>
            <a:ext cx="3332378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9386" y="4526280"/>
            <a:ext cx="311292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原句照抄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9386" y="4956048"/>
            <a:ext cx="3112922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身體不適的原句，每張交接單都照抄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90636" y="4434840"/>
            <a:ext cx="3332378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00364" y="4526280"/>
            <a:ext cx="311292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醫學問題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0364" y="4956048"/>
            <a:ext cx="3112922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填 Medical，不回答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同樣的事，下次不要從頭｜實作頁「7 合」B14、A18；「6 報」A17、B13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 合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交接單與模板提詞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1417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外勤｜B14 交接單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你是：牙科業務助理。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請你：把拜訪結果寫成給內勤的交接單。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要注意：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1. 有人提到身體不適，原句照抄放最上面。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2. 要內勤處理的事才開單，一件一張。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3. 醫學問題填 Medical，不要回答。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4. 原文沒寫的期限、數量，填「待確認」。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請輸出：① 交接單（照範本）② Teams 訊息 4 行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資料不清楚就先問我，不要自己猜。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逆向工程｜A17、B13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4709160" cy="37947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擔任 prompt 詞專家，我想要有一個步驟化的 prompt 詞模板，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未來更換情境，都可以達到同樣的文案生成效果。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請你：把下面的提詞改成步驟模板。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要注意：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1. 第一步先確認資料名稱與目的，缺就問我。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2. 〔請改：…〕只留 3 個。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3. 防呆句、身體不適句照抄進模板。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請輸出：模板放在可複製的區塊，下面說明要改哪裡。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換資料驗證時一定要開新對話，才看得出模板會不會先問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852160"/>
            <a:ext cx="3520440" cy="475488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存進提詞庫，下次直接用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822960" y="-640080"/>
            <a:ext cx="2926080" cy="2377440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2000000">
            <a:off x="10607040" y="5577840"/>
            <a:ext cx="1280160" cy="100584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5074920" y="1700784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84648" y="1828800"/>
            <a:ext cx="1828800" cy="68580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11" name="Oval 10"/>
          <p:cNvSpPr/>
          <p:nvPr/>
        </p:nvSpPr>
        <p:spPr>
          <a:xfrm>
            <a:off x="6958584" y="2386584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Copilot「建立」：四格提詞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103628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同一個工具，寫清楚四格，就能做出可以直接用的成品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「建立」可以做什麼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371600"/>
            <a:ext cx="2407843" cy="2148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39" y="1481328"/>
            <a:ext cx="21335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建立影像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39" y="1920240"/>
            <a:ext cx="213352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AI 畫圖，選風格與比例（方形／直向／寬幅）。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例：教育訓練插圖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39" y="3063240"/>
            <a:ext cx="2133523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Copilot Chat 就能用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0843" y="1371600"/>
            <a:ext cx="2407843" cy="2148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8003" y="1481328"/>
            <a:ext cx="21335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設計海報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003" y="1920240"/>
            <a:ext cx="213352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圖＋文字排版，產生後可改字。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例：內部活動海報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88003" y="3063240"/>
            <a:ext cx="2133523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Copilot Chat 就能用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1371600"/>
            <a:ext cx="2407843" cy="2148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167" y="1481328"/>
            <a:ext cx="21335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設計橫幅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1920240"/>
            <a:ext cx="213352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一次給 4 個設計，可選尺寸。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例：Teams 頻道橫幅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0167" y="3063240"/>
            <a:ext cx="2133523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Copilot Chat 就能用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171" y="1371600"/>
            <a:ext cx="2407843" cy="2148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331" y="1481328"/>
            <a:ext cx="21335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編輯影像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331" y="1920240"/>
            <a:ext cx="213352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裁切、去背、擦除、加文字。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例：把圖修乾淨、補正確中文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331" y="3063240"/>
            <a:ext cx="2133523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Copilot Chat 就能用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657600"/>
            <a:ext cx="2407843" cy="2148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39" y="3767328"/>
            <a:ext cx="21335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資訊圖表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39" y="4206240"/>
            <a:ext cx="213352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可上傳檔案當內容，直向或寬幅。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例：一頁流程圖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39" y="5349240"/>
            <a:ext cx="2133523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Copilot Chat 就能用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50843" y="3657600"/>
            <a:ext cx="2407843" cy="2148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8003" y="3767328"/>
            <a:ext cx="21335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建立表單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8003" y="4206240"/>
            <a:ext cx="213352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產生 Microsoft Forms，可附 Word／PPT／Excel。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例：活動報名表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88003" y="5349240"/>
            <a:ext cx="2133523" cy="34747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需要 M365 Copilot 授權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3007" y="3657600"/>
            <a:ext cx="2407843" cy="2148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0167" y="3767328"/>
            <a:ext cx="21335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影片／故事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0167" y="4206240"/>
            <a:ext cx="213352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影片用 Clipchamp 組短片；故事是風格化視覺。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例：新人介紹短片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70167" y="5349240"/>
            <a:ext cx="2133523" cy="34747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需要 M365 Copilot 授權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171" y="3657600"/>
            <a:ext cx="2407843" cy="2148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331" y="3767328"/>
            <a:ext cx="21335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草稿／文件／簡報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331" y="4206240"/>
            <a:ext cx="213352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寫文件或簡報初稿，可附檔。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例：主管月報草稿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52331" y="5349240"/>
            <a:ext cx="2133523" cy="3474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依公司授權與設定實測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989320"/>
            <a:ext cx="1045433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資料：Microsoft Support 與 Message Center（查詢至 2026-09）。免費版尖峰時可能變慢；介面名稱與可用功能以公司帳號實測為準。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同一個工具，差在提詞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55448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3271" y="1719072"/>
            <a:ext cx="4700016" cy="45720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一般人：一句話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86000"/>
            <a:ext cx="4663440" cy="33832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「幫我做一個活動報名表」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・欄位是通用的，不是你要的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・題型亂：該單選的變簡答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・問了不需要的姓名、電話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・沒有場次、沒有截止日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・發出去才發現要重做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1719072"/>
            <a:ext cx="4700016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做得好：寫清楚四格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4663440" cy="33832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給誰用、用在哪 → 對象和發送方式對了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一定要有 → 欄位、題型、選項一次到位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規則限制 → 必填、不收多餘個資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做完檢查 → 手動設定一次補齊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發出去之前，自己先填一次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3657600"/>
            <a:ext cx="320040" cy="0"/>
          </a:xfrm>
          <a:prstGeom prst="line">
            <a:avLst/>
          </a:prstGeom>
          <a:ln w="3810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274320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0" b="1" i="0">
                <a:solidFill>
                  <a:srgbClr val="5D6BB6"/>
                </a:solidFill>
                <a:latin typeface="Impact"/>
                <a:ea typeface="Impact"/>
                <a:cs typeface="Impact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8346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格提詞</a:t>
            </a:r>
          </a:p>
        </p:txBody>
      </p:sp>
      <p:sp>
        <p:nvSpPr>
          <p:cNvPr id="11" name="Isosceles Triangle 10"/>
          <p:cNvSpPr/>
          <p:nvPr/>
        </p:nvSpPr>
        <p:spPr>
          <a:xfrm rot="20400000">
            <a:off x="3639311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13" name="Oval 12"/>
          <p:cNvSpPr/>
          <p:nvPr/>
        </p:nvSpPr>
        <p:spPr>
          <a:xfrm>
            <a:off x="5431536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75488"/>
            <a:ext cx="566928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四格提詞：先想清楚，再交給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55448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給誰用</a:t>
            </a:r>
          </a:p>
        </p:txBody>
      </p:sp>
      <p:sp>
        <p:nvSpPr>
          <p:cNvPr id="16" name="Oval 15"/>
          <p:cNvSpPr/>
          <p:nvPr/>
        </p:nvSpPr>
        <p:spPr>
          <a:xfrm>
            <a:off x="5806440" y="192481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5448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對象是誰、用在哪裡：Teams、LINE、印出來貼公告欄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42316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一定要有</a:t>
            </a:r>
          </a:p>
        </p:txBody>
      </p:sp>
      <p:sp>
        <p:nvSpPr>
          <p:cNvPr id="19" name="Oval 18"/>
          <p:cNvSpPr/>
          <p:nvPr/>
        </p:nvSpPr>
        <p:spPr>
          <a:xfrm>
            <a:off x="5806440" y="2793492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42316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成品裡必須出現的東西：欄位、題型、主標、日期、地點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291839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規則限制</a:t>
            </a:r>
          </a:p>
        </p:txBody>
      </p:sp>
      <p:sp>
        <p:nvSpPr>
          <p:cNvPr id="22" name="Oval 21"/>
          <p:cNvSpPr/>
          <p:nvPr/>
        </p:nvSpPr>
        <p:spPr>
          <a:xfrm>
            <a:off x="5806440" y="3662171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291839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必填、字數、尺寸、不能出現的東西（真人、商標、療效字）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160520"/>
            <a:ext cx="2011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做完檢查</a:t>
            </a:r>
          </a:p>
        </p:txBody>
      </p:sp>
      <p:sp>
        <p:nvSpPr>
          <p:cNvPr id="25" name="Oval 24"/>
          <p:cNvSpPr/>
          <p:nvPr/>
        </p:nvSpPr>
        <p:spPr>
          <a:xfrm>
            <a:off x="5806440" y="4530851"/>
            <a:ext cx="128016" cy="12801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160520"/>
            <a:ext cx="54864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AI 做不到、要自己補的設定；發出前要看的三件事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58978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四格寫完，再按「建立」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表單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活動報名表：四格怎麼填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508760"/>
            <a:ext cx="51206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3271" y="1673351"/>
            <a:ext cx="4791455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給誰用・用在哪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40280"/>
            <a:ext cx="4754879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對象：Haleon 內勤同仁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用途：11 月工作坊報名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發送：Teams 群組貼連結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08760"/>
            <a:ext cx="51206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1673351"/>
            <a:ext cx="4791455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一定要有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40280"/>
            <a:ext cx="4754879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分區段：基本資料／場次／需求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每題寫題型：單選、簡答、日期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單選題把選項全部列出來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49039"/>
            <a:ext cx="51206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3271" y="3913631"/>
            <a:ext cx="4791455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規則限制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80559"/>
            <a:ext cx="4754879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哪些必填、哪些選填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不問姓名、Email（改開「記錄姓名」）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不問健康或病歷資料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749039"/>
            <a:ext cx="51206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3952" y="3913631"/>
            <a:ext cx="4791455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做完檢查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59"/>
            <a:ext cx="4754879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這一格不寫進提詞，是你要做的事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逐題看題型、必填、選項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補設定、自己先填一次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表單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活動報名表：完整提詞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0020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1417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建立表單｜貼這段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874519"/>
            <a:ext cx="649224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【給誰用・用在哪】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建立「11 月 Copilot 進階工作坊」報名表，給 Haleon 台灣內勤同仁，在 Teams 群組貼連結填寫。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【一定要有】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區段 1 基本資料：部門（單選：MKT／TMK／CS&amp;L／FN／GTN／其他）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區段 2 場次：想參加的場次（單選：11/12 14:00–16:00／11/19 14:00–16:00）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區段 3 需求：使用程度（單選：沒用過／用過幾次／每週使用）；最想解決的一件工作（簡答）；飲食需求（單選：無／素食／其他）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【規則限制】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・除了飲食需求，其他都必填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・不要問姓名、Email、電話；不要問健康或病歷資料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・感謝訊息：已收到報名，行前通知會用 Teams 寄給你。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55064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第 4 格「做完檢查」不寫進提詞，是產生後你自己要做的事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70632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825496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有活動企劃的 Word？用「新增檔案」附上，欄位會更準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41064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995928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題型、必填沒有照做：進 Forms 直接改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5111496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59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需要 M365 Copilot 授權；沒有授權，看「一樣做得出來」那一頁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表單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產生之後：這些設定要自己做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1664207"/>
            <a:ext cx="457200" cy="45720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554480"/>
            <a:ext cx="17373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誰可以填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554480"/>
            <a:ext cx="3017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只有組織內的人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1664207"/>
            <a:ext cx="457200" cy="45720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54480"/>
            <a:ext cx="17373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記錄姓名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554480"/>
            <a:ext cx="3017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打開，就不用再問姓名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2651760"/>
            <a:ext cx="457200" cy="45720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542032"/>
            <a:ext cx="17373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每人一次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542032"/>
            <a:ext cx="3017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打開「每人只能回應一次」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2651760"/>
            <a:ext cx="457200" cy="45720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542032"/>
            <a:ext cx="17373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開始／結束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542032"/>
            <a:ext cx="3017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設定報名截止時間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3639312"/>
            <a:ext cx="457200" cy="45720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529584"/>
            <a:ext cx="17373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額滿關閉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529584"/>
            <a:ext cx="3017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Forms 沒有人數上限，額滿時手動關閉「接受回應」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3639312"/>
            <a:ext cx="457200" cy="45720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529584"/>
            <a:ext cx="17373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感謝訊息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529584"/>
            <a:ext cx="3017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確認文字和日期正確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" y="4626864"/>
            <a:ext cx="457200" cy="45720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517136"/>
            <a:ext cx="17373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回應通知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517136"/>
            <a:ext cx="3017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需要時打開「每則回應寄 Email 給我」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4626864"/>
            <a:ext cx="457200" cy="45720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517136"/>
            <a:ext cx="17373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自己先填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517136"/>
            <a:ext cx="3017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預覽並自己填一次，再分享連結或 QR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Microsoft 官方提醒：AI 產生的題目可能不完整或不正確，每一題看過再發出去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表單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沒有 M365 Copilot 授權：一樣做得出來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91640"/>
            <a:ext cx="2373553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057400"/>
            <a:ext cx="200779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寫題目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40"/>
            <a:ext cx="200779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在 Copilot Chat 用四格提詞，加一句「每行一題，選項分行」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69665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62273" y="1691640"/>
            <a:ext cx="2373553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45153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5153" y="2057400"/>
            <a:ext cx="200779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存成 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5153" y="2606040"/>
            <a:ext cx="200779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把結果貼進 Word 存檔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63259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55867" y="1691640"/>
            <a:ext cx="2373553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8747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747" y="2057400"/>
            <a:ext cx="200779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快速匯入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747" y="2606040"/>
            <a:ext cx="200779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Forms →「快速匯入」上傳 Word，會轉成單選與簡答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56853" y="2715768"/>
            <a:ext cx="265176" cy="0"/>
          </a:xfrm>
          <a:prstGeom prst="line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49461" y="1691640"/>
            <a:ext cx="2373553" cy="205740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32341" y="1481328"/>
            <a:ext cx="502920" cy="50292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2341" y="2057400"/>
            <a:ext cx="200779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手動補齊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2341" y="2606040"/>
            <a:ext cx="2007793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日期、評分等題型、必填、區段和設定自己調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977639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其他表單，只換四格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434840"/>
            <a:ext cx="2442133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7" y="4526280"/>
            <a:ext cx="222267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教育訓練滿意度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4956048"/>
            <a:ext cx="2222677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評分＋李克特量表；匿名，不記錄姓名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39413" y="4434840"/>
            <a:ext cx="2442133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49141" y="4526280"/>
            <a:ext cx="222267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客服回饋整理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49141" y="4956048"/>
            <a:ext cx="2222677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只收案件編號，不收消費者姓名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0147" y="4434840"/>
            <a:ext cx="2442133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19875" y="4526280"/>
            <a:ext cx="222267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內部需求調查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9875" y="4956048"/>
            <a:ext cx="2222677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部門單選＋需求簡答；設截止日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0881" y="4434840"/>
            <a:ext cx="2442133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90609" y="4526280"/>
            <a:ext cx="222267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試用品申請（內部）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0609" y="4956048"/>
            <a:ext cx="2222677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品項單選、數量、期限；給業務填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不收病人資料；需要收個資的表單，先確認公司隱私規定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海報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設計海報：四格＋一句畫面描述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0020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1417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設計海報｜貼這段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874519"/>
            <a:ext cx="649224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【給誰用・用在哪】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Q4 檔期內部啟動海報，貼在辦公室和 Teams，只給同仁看。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【一定要有】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主標：「Q4 一起衝！」（字照抄）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副標：11/1 上檔｜連鎖藥局・電商・量販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畫面：四位同事插畫人物在明亮辦公室舉手擊掌，扁平向量風格，黑白配亮綠。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【規則限制】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・不要真人肖像、商標、產品包裝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・不寫功效、療效、比較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・中文字只放主標和副標，其他地方留白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55064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主標、日期、地點寫在提詞裡；產生後逐字核對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70632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825496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中文字錯了：用「編輯」自己改字，不要重抽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41064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995928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想改畫面：用「使用 AI 轉換」一次改一處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5111496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59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對外海報要走公司審核；這裡做的是內部用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橫幅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設計橫幅：一次給 4 個選項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0020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1417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設計橫幅｜貼這段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874519"/>
            <a:ext cx="649224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【給誰用・用在哪】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Teams 頻道頂端橫幅，宣傳「AI 提詞挑戰 30 天」。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【一定要有】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文字：「AI 提詞挑戰 30 天」（字照抄）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畫面：左邊留大片空白放字，右邊是簡單的筆電和對話泡泡圖示。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顏色：白底配亮綠和深灰。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【規則限制】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・只放這一行字，不加其他文字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・不要真人、商標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55064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先在「大小」選好尺寸，再產生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70632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825496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4 個選項挑最接近的，再用「編輯」調整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41064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995928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文字用編輯器的「文字」工具重打最穩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5111496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59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有品牌套件（需授權）就直接選，不必在提詞寫顏色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影像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建立影像：六要素；編輯影像：一次改一處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0020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1417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建立影像｜貼這段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874519"/>
            <a:ext cx="649224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【給誰用・用在哪】新人教育訓練投影片的插圖，寬幅。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【一定要有】（六要素，一句一件事）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主角：一位年輕的業務同仁插畫人物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動作：在藥局貨架前整理牙膏陳列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環境：明亮乾淨的藥局，貨架整齊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構圖：平視中景，人物在左邊，右邊留空白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光影：白天柔和的自然光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風格：扁平向量插畫，色彩柔和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【規則限制】不要文字、商標、真實品牌包裝、真人肖像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55064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比例先選好：方形／直向／寬幅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70632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825496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修圖五指令：添加、移除、改變、替換、變成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41064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995928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編輯影像可以裁切、去背、擦除、加文字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5111496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59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只上傳你有權使用的圖片；別人的照片、商標不要放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865376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資訊圖表</a:t>
            </a:r>
          </a:p>
        </p:txBody>
      </p:sp>
      <p:sp>
        <p:nvSpPr>
          <p:cNvPr id="11" name="Oval 10"/>
          <p:cNvSpPr/>
          <p:nvPr/>
        </p:nvSpPr>
        <p:spPr>
          <a:xfrm>
            <a:off x="2679192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475488"/>
            <a:ext cx="8451799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資訊圖表：先給內容，再給版面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0020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1417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資訊圖表｜貼這段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874519"/>
            <a:ext cx="649224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【給誰用・用在哪】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給新進 CS&amp;L 同仁的一頁流程圖，直向，印出來貼在座位旁。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【一定要有】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標題：「訂單到出貨 5 步」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5 步：接單 → 確認庫存 → 揀貨包裝 → 出貨 → 客戶簽收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每步一個簡單圖示，一句 10 字內說明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【規則限制】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・只用我給的 5 步和文字，不加數字、天數、系統名稱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・白底，主色深綠，強調色只用在步驟編號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55064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有資料檔就用「新增內容」上傳，不讓 AI 自己編數字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70632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825496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產生後逐字核對數字、標籤和中文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41064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995928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直向適合印出，寬幅適合放投影片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5111496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59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內容太多時，先用 Copilot Chat 整理成 5 點再做圖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草稿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建立草稿：目的、讀者、段落寫清楚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60020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D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1417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建立草稿｜貼這段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874519"/>
            <a:ext cx="649224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【給誰用・用在哪】給主管的月報草稿，當 Email 附件。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【一定要有】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段落：本月重點／數字表現／遇到的問題與做法／下月計畫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資料：（新增檔案：本月銷售摘要.xlsx）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【規則限制】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・數字只用附件裡的，每個數字標來源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・語氣直接、簡潔；長度一頁內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・不寫產品功效，不和他牌比較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55064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官方範例就是這個結構：目的＋讀者＋要有哪些段落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70632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825496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可以選語氣（直接／激勵／說服）和讀者（主管／團隊／客戶）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41064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995928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附上檔案當資料來源，比讓 AI 自己寫準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5111496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59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文件、簡報、影片能不能用，依公司授權與 IT 設定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交出去之前：五查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737360"/>
            <a:ext cx="1965960" cy="338328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81912" y="1920240"/>
            <a:ext cx="548640" cy="54864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06040"/>
            <a:ext cx="17830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事實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39" y="3154680"/>
            <a:ext cx="16916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日期、地點、名稱逐字對過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737360"/>
            <a:ext cx="1965960" cy="338328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30752" y="1920240"/>
            <a:ext cx="548640" cy="54864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606040"/>
            <a:ext cx="17830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文字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3154680"/>
            <a:ext cx="16916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中文字、數字有沒有錯字或亂碼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1737360"/>
            <a:ext cx="1965960" cy="338328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79592" y="1920240"/>
            <a:ext cx="548640" cy="54864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606040"/>
            <a:ext cx="17830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合規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154680"/>
            <a:ext cx="16916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沒有功效、療效、比較；對外素材走審核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737360"/>
            <a:ext cx="1965960" cy="338328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8431" y="1920240"/>
            <a:ext cx="548640" cy="54864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606040"/>
            <a:ext cx="17830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個資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154680"/>
            <a:ext cx="16916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表單只收必要資料，不收病人資料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1737360"/>
            <a:ext cx="1965960" cy="3383280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77272" y="1920240"/>
            <a:ext cx="548640" cy="548640"/>
          </a:xfrm>
          <a:prstGeom prst="ellips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606040"/>
            <a:ext cx="17830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版權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154680"/>
            <a:ext cx="16916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不放真人肖像、他牌商標；AI 圖依公司規定標示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32120"/>
            <a:ext cx="10454335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D7D31"/>
                </a:solidFill>
                <a:latin typeface="Microsoft JhengHei"/>
                <a:ea typeface="Microsoft JhengHei"/>
                <a:cs typeface="Microsoft JhengHei"/>
              </a:rPr>
              <a:t>AI 做的是初稿；發出去之前，由你負責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502920" y="-411480"/>
            <a:ext cx="1463040" cy="118872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900000">
            <a:off x="960120" y="256032"/>
            <a:ext cx="256032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20400000">
            <a:off x="758952" y="438912"/>
            <a:ext cx="237744" cy="219456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56692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小抄</a:t>
            </a:r>
          </a:p>
        </p:txBody>
      </p:sp>
      <p:sp>
        <p:nvSpPr>
          <p:cNvPr id="11" name="Oval 10"/>
          <p:cNvSpPr/>
          <p:nvPr/>
        </p:nvSpPr>
        <p:spPr>
          <a:xfrm>
            <a:off x="2551175" y="1005840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475488"/>
            <a:ext cx="857981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一頁記住八套架構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5087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認識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508760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三個判斷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50876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看盾牌、紅綠燈、會寫也會畫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075688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075688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五段提詞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075688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你是／請你／要注意／請輸出／防呆句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2642615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642615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六要素＋修圖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42615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主角 動作 環境 構圖 光影 風格；一次只修一處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20954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209544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查詢公式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209544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問題＋來源＋年份＋格式；點開網址看日期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77647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 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3776472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分析三步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776472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看全貌→找問題→給建議；驗算 1 個數字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3434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 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343400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簡報三步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34340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大綱→逐頁文案→套範本；6 大規範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4910327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 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910327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交接＋模板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910327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一件一張、原句照抄；做一次→寫成模板→換資料試→存起來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5477256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47725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四格提詞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477256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給誰用在哪／一定要有／規則限制／做完檢查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2783" cy="641908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0007" y="128016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73152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6519672"/>
            <a:ext cx="20116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6464807"/>
            <a:ext cx="2011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04040"/>
                </a:solidFill>
                <a:latin typeface="STXingkai"/>
                <a:ea typeface="STXingkai"/>
                <a:cs typeface="STXingkai"/>
              </a:rPr>
              <a:t>Slide Design Skills</a:t>
            </a:r>
          </a:p>
        </p:txBody>
      </p:sp>
      <p:sp>
        <p:nvSpPr>
          <p:cNvPr id="7" name="Isosceles Triangle 6"/>
          <p:cNvSpPr/>
          <p:nvPr/>
        </p:nvSpPr>
        <p:spPr>
          <a:xfrm rot="2100000">
            <a:off x="-822960" y="-640080"/>
            <a:ext cx="2926080" cy="2377440"/>
          </a:xfrm>
          <a:prstGeom prst="triangle">
            <a:avLst/>
          </a:prstGeom>
          <a:solidFill>
            <a:srgbClr val="5D6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2000000">
            <a:off x="10607040" y="5577840"/>
            <a:ext cx="1280160" cy="1005840"/>
          </a:xfrm>
          <a:prstGeom prst="triangl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</a:rPr>
              <a:t>同樣的事，下次不要從頭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5D6BB6"/>
                </a:solidFill>
                <a:latin typeface="Microsoft JhengHei"/>
                <a:ea typeface="Microsoft JhengHei"/>
                <a:cs typeface="Microsoft JhengHei"/>
              </a:rPr>
              <a:t>好用的提詞，存進「我的提詞庫」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36289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教學用虛構素材｜產品、診所、人物、數字均為虛構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